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0413" y="187832"/>
            <a:ext cx="7215530" cy="1123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1866" y="2017267"/>
            <a:ext cx="6449695" cy="3282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2315" y="1887473"/>
            <a:ext cx="5532120" cy="231013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065" marR="5080" algn="ctr">
              <a:lnSpc>
                <a:spcPct val="88800"/>
              </a:lnSpc>
              <a:spcBef>
                <a:spcPts val="825"/>
              </a:spcBef>
              <a:tabLst>
                <a:tab pos="2604770" algn="l"/>
                <a:tab pos="3364865" algn="l"/>
              </a:tabLst>
            </a:pPr>
            <a:r>
              <a:rPr sz="5400" b="1" spc="-10" dirty="0">
                <a:latin typeface="Arial"/>
                <a:cs typeface="Arial"/>
              </a:rPr>
              <a:t>Biometric</a:t>
            </a:r>
            <a:r>
              <a:rPr sz="5400" b="1" dirty="0">
                <a:latin typeface="Arial"/>
                <a:cs typeface="Arial"/>
              </a:rPr>
              <a:t>	+ </a:t>
            </a:r>
            <a:r>
              <a:rPr sz="5400" b="1" spc="-20" dirty="0">
                <a:latin typeface="Arial"/>
                <a:cs typeface="Arial"/>
              </a:rPr>
              <a:t>One- </a:t>
            </a:r>
            <a:r>
              <a:rPr sz="5400" b="1" dirty="0">
                <a:latin typeface="Arial"/>
                <a:cs typeface="Arial"/>
              </a:rPr>
              <a:t>Time</a:t>
            </a:r>
            <a:r>
              <a:rPr sz="5400" b="1" spc="-55" dirty="0">
                <a:latin typeface="Arial"/>
                <a:cs typeface="Arial"/>
              </a:rPr>
              <a:t> </a:t>
            </a:r>
            <a:r>
              <a:rPr sz="5400" b="1" dirty="0">
                <a:latin typeface="Arial"/>
                <a:cs typeface="Arial"/>
              </a:rPr>
              <a:t>QR</a:t>
            </a:r>
            <a:r>
              <a:rPr sz="5400" b="1" spc="-55" dirty="0">
                <a:latin typeface="Arial"/>
                <a:cs typeface="Arial"/>
              </a:rPr>
              <a:t> </a:t>
            </a:r>
            <a:r>
              <a:rPr sz="5400" b="1" spc="-20" dirty="0">
                <a:latin typeface="Arial"/>
                <a:cs typeface="Arial"/>
              </a:rPr>
              <a:t>Code </a:t>
            </a:r>
            <a:r>
              <a:rPr sz="5400" b="1" spc="-10" dirty="0">
                <a:latin typeface="Arial"/>
                <a:cs typeface="Arial"/>
              </a:rPr>
              <a:t>Access</a:t>
            </a:r>
            <a:r>
              <a:rPr sz="5400" b="1" dirty="0">
                <a:latin typeface="Arial"/>
                <a:cs typeface="Arial"/>
              </a:rPr>
              <a:t>	</a:t>
            </a:r>
            <a:r>
              <a:rPr sz="5400" b="1" spc="-10" dirty="0">
                <a:latin typeface="Arial"/>
                <a:cs typeface="Arial"/>
              </a:rPr>
              <a:t>Control</a:t>
            </a:r>
            <a:endParaRPr sz="5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5125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Arial"/>
                <a:cs typeface="Arial"/>
              </a:rPr>
              <a:t>BioQR</a:t>
            </a:r>
            <a:r>
              <a:rPr b="1" spc="-19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Access</a:t>
            </a:r>
            <a:r>
              <a:rPr b="1" spc="-10" dirty="0">
                <a:latin typeface="Arial"/>
                <a:cs typeface="Arial"/>
              </a:rPr>
              <a:t> Manager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9876" y="0"/>
            <a:ext cx="4709159" cy="685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9992" y="4819650"/>
            <a:ext cx="329057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Group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Members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160"/>
              </a:spcBef>
              <a:buAutoNum type="arabicPeriod"/>
              <a:tabLst>
                <a:tab pos="354965" algn="l"/>
              </a:tabLst>
            </a:pPr>
            <a:r>
              <a:rPr sz="1800" spc="-20" dirty="0">
                <a:latin typeface="Calibri"/>
                <a:cs typeface="Calibri"/>
              </a:rPr>
              <a:t>Yogita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Dhau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(2201623)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Anish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Anil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Kshirsagar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(2201638)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Sakshi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Nivrutti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Raut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(2201658)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Guide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Prof. </a:t>
            </a:r>
            <a:r>
              <a:rPr sz="1800" dirty="0">
                <a:latin typeface="Calibri"/>
                <a:cs typeface="Calibri"/>
              </a:rPr>
              <a:t>A.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S.</a:t>
            </a:r>
            <a:r>
              <a:rPr sz="1800" spc="-20" dirty="0">
                <a:latin typeface="Calibri"/>
                <a:cs typeface="Calibri"/>
              </a:rPr>
              <a:t> Kunte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9750" rIns="0" bIns="0" rtlCol="0">
            <a:spAutoFit/>
          </a:bodyPr>
          <a:lstStyle/>
          <a:p>
            <a:pPr marL="71882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latin typeface="Arial"/>
                <a:cs typeface="Arial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1782"/>
            <a:ext cx="5972175" cy="415226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1300" marR="5080" indent="-229235">
              <a:lnSpc>
                <a:spcPct val="900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BioQR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Manager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offers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smarter,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more </a:t>
            </a:r>
            <a:r>
              <a:rPr sz="2000" dirty="0">
                <a:latin typeface="Calibri"/>
                <a:cs typeface="Calibri"/>
              </a:rPr>
              <a:t>secure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manage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control.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combines </a:t>
            </a:r>
            <a:r>
              <a:rPr sz="2000" dirty="0">
                <a:latin typeface="Calibri"/>
                <a:cs typeface="Calibri"/>
              </a:rPr>
              <a:t>fingerprint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authentication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one-</a:t>
            </a:r>
            <a:r>
              <a:rPr sz="2000" spc="-20" dirty="0">
                <a:latin typeface="Calibri"/>
                <a:cs typeface="Calibri"/>
              </a:rPr>
              <a:t>time-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codes, </a:t>
            </a:r>
            <a:r>
              <a:rPr sz="2000" dirty="0">
                <a:latin typeface="Calibri"/>
                <a:cs typeface="Calibri"/>
              </a:rPr>
              <a:t>making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extremely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difficult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unauthorized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users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gain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entry.</a:t>
            </a:r>
            <a:endParaRPr sz="2000">
              <a:latin typeface="Calibri"/>
              <a:cs typeface="Calibri"/>
            </a:endParaRPr>
          </a:p>
          <a:p>
            <a:pPr marL="241300" marR="134620" indent="-229235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dual-</a:t>
            </a:r>
            <a:r>
              <a:rPr sz="2000" dirty="0">
                <a:latin typeface="Calibri"/>
                <a:cs typeface="Calibri"/>
              </a:rPr>
              <a:t>layer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security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approach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strengthens protection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keeps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things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simple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users—</a:t>
            </a:r>
            <a:r>
              <a:rPr sz="2000" spc="-25" dirty="0">
                <a:latin typeface="Calibri"/>
                <a:cs typeface="Calibri"/>
              </a:rPr>
              <a:t>no </a:t>
            </a:r>
            <a:r>
              <a:rPr sz="2000" spc="-10" dirty="0">
                <a:latin typeface="Calibri"/>
                <a:cs typeface="Calibri"/>
              </a:rPr>
              <a:t>passwords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remember, </a:t>
            </a:r>
            <a:r>
              <a:rPr sz="2000" dirty="0">
                <a:latin typeface="Calibri"/>
                <a:cs typeface="Calibri"/>
              </a:rPr>
              <a:t>just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quick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you're </a:t>
            </a:r>
            <a:r>
              <a:rPr sz="2000" spc="-25" dirty="0">
                <a:latin typeface="Calibri"/>
                <a:cs typeface="Calibri"/>
              </a:rPr>
              <a:t>in.</a:t>
            </a:r>
            <a:endParaRPr sz="2000">
              <a:latin typeface="Calibri"/>
              <a:cs typeface="Calibri"/>
            </a:endParaRPr>
          </a:p>
          <a:p>
            <a:pPr marL="241300" marR="250190" indent="-229235">
              <a:lnSpc>
                <a:spcPts val="216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BioQR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secure</a:t>
            </a:r>
            <a:r>
              <a:rPr sz="2000" spc="-20" dirty="0">
                <a:latin typeface="Calibri"/>
                <a:cs typeface="Calibri"/>
              </a:rPr>
              <a:t> file-</a:t>
            </a:r>
            <a:r>
              <a:rPr sz="2000" dirty="0">
                <a:latin typeface="Calibri"/>
                <a:cs typeface="Calibri"/>
              </a:rPr>
              <a:t>sharing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system that </a:t>
            </a:r>
            <a:r>
              <a:rPr sz="2000" spc="-10" dirty="0">
                <a:latin typeface="Calibri"/>
                <a:cs typeface="Calibri"/>
              </a:rPr>
              <a:t>integrates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biometric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authentication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code-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access.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leverages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mobile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web </a:t>
            </a:r>
            <a:r>
              <a:rPr sz="2000" spc="-10" dirty="0">
                <a:latin typeface="Calibri"/>
                <a:cs typeface="Calibri"/>
              </a:rPr>
              <a:t>technologies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seamless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experience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alibri"/>
                <a:cs typeface="Calibri"/>
              </a:rPr>
              <a:t>users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5829" y="0"/>
            <a:ext cx="47061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8239" rIns="0" bIns="0" rtlCol="0">
            <a:spAutoFit/>
          </a:bodyPr>
          <a:lstStyle/>
          <a:p>
            <a:pPr marL="673735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Arial"/>
                <a:cs typeface="Arial"/>
              </a:rPr>
              <a:t>Project </a:t>
            </a:r>
            <a:r>
              <a:rPr b="1" spc="-10" dirty="0">
                <a:latin typeface="Arial"/>
                <a:cs typeface="Arial"/>
              </a:rPr>
              <a:t>Scope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4068" y="1818132"/>
            <a:ext cx="5309870" cy="1844039"/>
            <a:chOff x="544068" y="1818132"/>
            <a:chExt cx="5309870" cy="1844039"/>
          </a:xfrm>
        </p:grpSpPr>
        <p:sp>
          <p:nvSpPr>
            <p:cNvPr id="4" name="object 4"/>
            <p:cNvSpPr/>
            <p:nvPr/>
          </p:nvSpPr>
          <p:spPr>
            <a:xfrm>
              <a:off x="547878" y="1821942"/>
              <a:ext cx="5302250" cy="1836420"/>
            </a:xfrm>
            <a:custGeom>
              <a:avLst/>
              <a:gdLst/>
              <a:ahLst/>
              <a:cxnLst/>
              <a:rect l="l" t="t" r="r" b="b"/>
              <a:pathLst>
                <a:path w="5302250" h="1836420">
                  <a:moveTo>
                    <a:pt x="4999736" y="0"/>
                  </a:moveTo>
                  <a:lnTo>
                    <a:pt x="302234" y="0"/>
                  </a:lnTo>
                  <a:lnTo>
                    <a:pt x="253211" y="3954"/>
                  </a:lnTo>
                  <a:lnTo>
                    <a:pt x="206706" y="15402"/>
                  </a:lnTo>
                  <a:lnTo>
                    <a:pt x="163341" y="33724"/>
                  </a:lnTo>
                  <a:lnTo>
                    <a:pt x="123740" y="58298"/>
                  </a:lnTo>
                  <a:lnTo>
                    <a:pt x="88523" y="88503"/>
                  </a:lnTo>
                  <a:lnTo>
                    <a:pt x="58314" y="123718"/>
                  </a:lnTo>
                  <a:lnTo>
                    <a:pt x="33735" y="163322"/>
                  </a:lnTo>
                  <a:lnTo>
                    <a:pt x="15408" y="206695"/>
                  </a:lnTo>
                  <a:lnTo>
                    <a:pt x="3955" y="253214"/>
                  </a:lnTo>
                  <a:lnTo>
                    <a:pt x="0" y="302260"/>
                  </a:lnTo>
                  <a:lnTo>
                    <a:pt x="0" y="1534160"/>
                  </a:lnTo>
                  <a:lnTo>
                    <a:pt x="3955" y="1583205"/>
                  </a:lnTo>
                  <a:lnTo>
                    <a:pt x="15408" y="1629724"/>
                  </a:lnTo>
                  <a:lnTo>
                    <a:pt x="33735" y="1673097"/>
                  </a:lnTo>
                  <a:lnTo>
                    <a:pt x="58314" y="1712701"/>
                  </a:lnTo>
                  <a:lnTo>
                    <a:pt x="88523" y="1747916"/>
                  </a:lnTo>
                  <a:lnTo>
                    <a:pt x="123740" y="1778121"/>
                  </a:lnTo>
                  <a:lnTo>
                    <a:pt x="163341" y="1802695"/>
                  </a:lnTo>
                  <a:lnTo>
                    <a:pt x="206706" y="1821017"/>
                  </a:lnTo>
                  <a:lnTo>
                    <a:pt x="253211" y="1832465"/>
                  </a:lnTo>
                  <a:lnTo>
                    <a:pt x="302234" y="1836420"/>
                  </a:lnTo>
                  <a:lnTo>
                    <a:pt x="4999736" y="1836420"/>
                  </a:lnTo>
                  <a:lnTo>
                    <a:pt x="5048781" y="1832465"/>
                  </a:lnTo>
                  <a:lnTo>
                    <a:pt x="5095300" y="1821017"/>
                  </a:lnTo>
                  <a:lnTo>
                    <a:pt x="5138673" y="1802695"/>
                  </a:lnTo>
                  <a:lnTo>
                    <a:pt x="5178277" y="1778121"/>
                  </a:lnTo>
                  <a:lnTo>
                    <a:pt x="5213492" y="1747916"/>
                  </a:lnTo>
                  <a:lnTo>
                    <a:pt x="5243697" y="1712701"/>
                  </a:lnTo>
                  <a:lnTo>
                    <a:pt x="5268271" y="1673097"/>
                  </a:lnTo>
                  <a:lnTo>
                    <a:pt x="5286593" y="1629724"/>
                  </a:lnTo>
                  <a:lnTo>
                    <a:pt x="5298041" y="1583205"/>
                  </a:lnTo>
                  <a:lnTo>
                    <a:pt x="5301996" y="1534160"/>
                  </a:lnTo>
                  <a:lnTo>
                    <a:pt x="5301996" y="302260"/>
                  </a:lnTo>
                  <a:lnTo>
                    <a:pt x="5298041" y="253214"/>
                  </a:lnTo>
                  <a:lnTo>
                    <a:pt x="5286593" y="206695"/>
                  </a:lnTo>
                  <a:lnTo>
                    <a:pt x="5268271" y="163322"/>
                  </a:lnTo>
                  <a:lnTo>
                    <a:pt x="5243697" y="123718"/>
                  </a:lnTo>
                  <a:lnTo>
                    <a:pt x="5213492" y="88503"/>
                  </a:lnTo>
                  <a:lnTo>
                    <a:pt x="5178277" y="58298"/>
                  </a:lnTo>
                  <a:lnTo>
                    <a:pt x="5138673" y="33724"/>
                  </a:lnTo>
                  <a:lnTo>
                    <a:pt x="5095300" y="15402"/>
                  </a:lnTo>
                  <a:lnTo>
                    <a:pt x="5048781" y="3954"/>
                  </a:lnTo>
                  <a:lnTo>
                    <a:pt x="4999736" y="0"/>
                  </a:lnTo>
                  <a:close/>
                </a:path>
              </a:pathLst>
            </a:custGeom>
            <a:solidFill>
              <a:srgbClr val="D3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7878" y="1821942"/>
              <a:ext cx="5302250" cy="1836420"/>
            </a:xfrm>
            <a:custGeom>
              <a:avLst/>
              <a:gdLst/>
              <a:ahLst/>
              <a:cxnLst/>
              <a:rect l="l" t="t" r="r" b="b"/>
              <a:pathLst>
                <a:path w="5302250" h="1836420">
                  <a:moveTo>
                    <a:pt x="0" y="302260"/>
                  </a:moveTo>
                  <a:lnTo>
                    <a:pt x="3955" y="253214"/>
                  </a:lnTo>
                  <a:lnTo>
                    <a:pt x="15408" y="206695"/>
                  </a:lnTo>
                  <a:lnTo>
                    <a:pt x="33735" y="163322"/>
                  </a:lnTo>
                  <a:lnTo>
                    <a:pt x="58314" y="123718"/>
                  </a:lnTo>
                  <a:lnTo>
                    <a:pt x="88523" y="88503"/>
                  </a:lnTo>
                  <a:lnTo>
                    <a:pt x="123740" y="58298"/>
                  </a:lnTo>
                  <a:lnTo>
                    <a:pt x="163341" y="33724"/>
                  </a:lnTo>
                  <a:lnTo>
                    <a:pt x="206706" y="15402"/>
                  </a:lnTo>
                  <a:lnTo>
                    <a:pt x="253211" y="3954"/>
                  </a:lnTo>
                  <a:lnTo>
                    <a:pt x="302234" y="0"/>
                  </a:lnTo>
                  <a:lnTo>
                    <a:pt x="4999736" y="0"/>
                  </a:lnTo>
                  <a:lnTo>
                    <a:pt x="5048781" y="3954"/>
                  </a:lnTo>
                  <a:lnTo>
                    <a:pt x="5095300" y="15402"/>
                  </a:lnTo>
                  <a:lnTo>
                    <a:pt x="5138673" y="33724"/>
                  </a:lnTo>
                  <a:lnTo>
                    <a:pt x="5178277" y="58298"/>
                  </a:lnTo>
                  <a:lnTo>
                    <a:pt x="5213492" y="88503"/>
                  </a:lnTo>
                  <a:lnTo>
                    <a:pt x="5243697" y="123718"/>
                  </a:lnTo>
                  <a:lnTo>
                    <a:pt x="5268271" y="163322"/>
                  </a:lnTo>
                  <a:lnTo>
                    <a:pt x="5286593" y="206695"/>
                  </a:lnTo>
                  <a:lnTo>
                    <a:pt x="5298041" y="253214"/>
                  </a:lnTo>
                  <a:lnTo>
                    <a:pt x="5301996" y="302260"/>
                  </a:lnTo>
                  <a:lnTo>
                    <a:pt x="5301996" y="1534160"/>
                  </a:lnTo>
                  <a:lnTo>
                    <a:pt x="5298041" y="1583205"/>
                  </a:lnTo>
                  <a:lnTo>
                    <a:pt x="5286593" y="1629724"/>
                  </a:lnTo>
                  <a:lnTo>
                    <a:pt x="5268271" y="1673097"/>
                  </a:lnTo>
                  <a:lnTo>
                    <a:pt x="5243697" y="1712701"/>
                  </a:lnTo>
                  <a:lnTo>
                    <a:pt x="5213492" y="1747916"/>
                  </a:lnTo>
                  <a:lnTo>
                    <a:pt x="5178277" y="1778121"/>
                  </a:lnTo>
                  <a:lnTo>
                    <a:pt x="5138673" y="1802695"/>
                  </a:lnTo>
                  <a:lnTo>
                    <a:pt x="5095300" y="1821017"/>
                  </a:lnTo>
                  <a:lnTo>
                    <a:pt x="5048781" y="1832465"/>
                  </a:lnTo>
                  <a:lnTo>
                    <a:pt x="4999736" y="1836420"/>
                  </a:lnTo>
                  <a:lnTo>
                    <a:pt x="302234" y="1836420"/>
                  </a:lnTo>
                  <a:lnTo>
                    <a:pt x="253211" y="1832465"/>
                  </a:lnTo>
                  <a:lnTo>
                    <a:pt x="206706" y="1821017"/>
                  </a:lnTo>
                  <a:lnTo>
                    <a:pt x="163341" y="1802695"/>
                  </a:lnTo>
                  <a:lnTo>
                    <a:pt x="123740" y="1778121"/>
                  </a:lnTo>
                  <a:lnTo>
                    <a:pt x="88523" y="1747916"/>
                  </a:lnTo>
                  <a:lnTo>
                    <a:pt x="58314" y="1712701"/>
                  </a:lnTo>
                  <a:lnTo>
                    <a:pt x="33735" y="1673097"/>
                  </a:lnTo>
                  <a:lnTo>
                    <a:pt x="15408" y="1629724"/>
                  </a:lnTo>
                  <a:lnTo>
                    <a:pt x="3955" y="1583205"/>
                  </a:lnTo>
                  <a:lnTo>
                    <a:pt x="0" y="1534160"/>
                  </a:lnTo>
                  <a:lnTo>
                    <a:pt x="0" y="302260"/>
                  </a:lnTo>
                  <a:close/>
                </a:path>
              </a:pathLst>
            </a:custGeom>
            <a:ln w="7620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4552" y="1761070"/>
            <a:ext cx="4800600" cy="136398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2200" b="1" dirty="0">
                <a:solidFill>
                  <a:srgbClr val="384652"/>
                </a:solidFill>
                <a:latin typeface="Arial"/>
                <a:cs typeface="Arial"/>
              </a:rPr>
              <a:t>Secure</a:t>
            </a:r>
            <a:r>
              <a:rPr sz="2200" b="1" spc="-150" dirty="0">
                <a:solidFill>
                  <a:srgbClr val="384652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384652"/>
                </a:solidFill>
                <a:latin typeface="Arial"/>
                <a:cs typeface="Arial"/>
              </a:rPr>
              <a:t>Access</a:t>
            </a:r>
            <a:r>
              <a:rPr sz="2200" b="1" spc="-80" dirty="0">
                <a:solidFill>
                  <a:srgbClr val="384652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384652"/>
                </a:solidFill>
                <a:latin typeface="Arial"/>
                <a:cs typeface="Arial"/>
              </a:rPr>
              <a:t>Management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88900"/>
              </a:lnSpc>
              <a:spcBef>
                <a:spcPts val="1095"/>
              </a:spcBef>
            </a:pP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Develop</a:t>
            </a:r>
            <a:r>
              <a:rPr sz="1800" spc="-35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a</a:t>
            </a:r>
            <a:r>
              <a:rPr sz="1800" spc="-35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comprehensive</a:t>
            </a:r>
            <a:r>
              <a:rPr sz="1800" spc="-15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system </a:t>
            </a:r>
            <a:r>
              <a:rPr sz="1800" spc="-10" dirty="0">
                <a:solidFill>
                  <a:srgbClr val="384652"/>
                </a:solidFill>
                <a:latin typeface="Arial MT"/>
                <a:cs typeface="Arial MT"/>
              </a:rPr>
              <a:t>utilising 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biometric</a:t>
            </a:r>
            <a:r>
              <a:rPr sz="1800" spc="-35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verification</a:t>
            </a:r>
            <a:r>
              <a:rPr sz="1800" spc="-35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coupled</a:t>
            </a:r>
            <a:r>
              <a:rPr sz="1800" spc="-25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with</a:t>
            </a:r>
            <a:r>
              <a:rPr sz="1800" spc="-10" dirty="0">
                <a:solidFill>
                  <a:srgbClr val="384652"/>
                </a:solidFill>
                <a:latin typeface="Arial MT"/>
                <a:cs typeface="Arial MT"/>
              </a:rPr>
              <a:t> one-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time</a:t>
            </a:r>
            <a:r>
              <a:rPr sz="1800" spc="-35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384652"/>
                </a:solidFill>
                <a:latin typeface="Arial MT"/>
                <a:cs typeface="Arial MT"/>
              </a:rPr>
              <a:t>QR 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codes</a:t>
            </a:r>
            <a:r>
              <a:rPr sz="1800" spc="-30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for</a:t>
            </a:r>
            <a:r>
              <a:rPr sz="1800" spc="-40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maximum</a:t>
            </a:r>
            <a:r>
              <a:rPr sz="1800" spc="-5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security</a:t>
            </a:r>
            <a:r>
              <a:rPr sz="1800" spc="-30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84652"/>
                </a:solidFill>
                <a:latin typeface="Arial MT"/>
                <a:cs typeface="Arial MT"/>
              </a:rPr>
              <a:t>assurance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7116" y="3936491"/>
            <a:ext cx="5327904" cy="158343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07542" y="3934041"/>
            <a:ext cx="4900295" cy="151447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930"/>
              </a:spcBef>
            </a:pPr>
            <a:r>
              <a:rPr sz="2200" b="1" dirty="0">
                <a:solidFill>
                  <a:srgbClr val="384652"/>
                </a:solidFill>
                <a:latin typeface="Arial"/>
                <a:cs typeface="Arial"/>
              </a:rPr>
              <a:t>Dynamic</a:t>
            </a:r>
            <a:r>
              <a:rPr sz="2200" b="1" spc="-50" dirty="0">
                <a:solidFill>
                  <a:srgbClr val="384652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384652"/>
                </a:solidFill>
                <a:latin typeface="Arial"/>
                <a:cs typeface="Arial"/>
              </a:rPr>
              <a:t>QR</a:t>
            </a:r>
            <a:r>
              <a:rPr sz="2200" b="1" spc="-80" dirty="0">
                <a:solidFill>
                  <a:srgbClr val="384652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384652"/>
                </a:solidFill>
                <a:latin typeface="Arial"/>
                <a:cs typeface="Arial"/>
              </a:rPr>
              <a:t>Generation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150"/>
              </a:spcBef>
            </a:pP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Generate</a:t>
            </a:r>
            <a:r>
              <a:rPr sz="1800" spc="-30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84652"/>
                </a:solidFill>
                <a:latin typeface="Arial MT"/>
                <a:cs typeface="Arial MT"/>
              </a:rPr>
              <a:t>time-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sensitive</a:t>
            </a:r>
            <a:r>
              <a:rPr sz="1800" spc="-25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QR</a:t>
            </a:r>
            <a:r>
              <a:rPr sz="1800" spc="-30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codes</a:t>
            </a:r>
            <a:r>
              <a:rPr sz="1800" spc="-25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84652"/>
                </a:solidFill>
                <a:latin typeface="Arial MT"/>
                <a:cs typeface="Arial MT"/>
              </a:rPr>
              <a:t>changing 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every</a:t>
            </a:r>
            <a:r>
              <a:rPr sz="1800" spc="-30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84652"/>
                </a:solidFill>
                <a:latin typeface="Arial MT"/>
                <a:cs typeface="Arial MT"/>
              </a:rPr>
              <a:t>10-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30</a:t>
            </a:r>
            <a:r>
              <a:rPr sz="1800" spc="-25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seconds</a:t>
            </a:r>
            <a:r>
              <a:rPr sz="1800" spc="-20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provide</a:t>
            </a:r>
            <a:r>
              <a:rPr sz="1800" spc="-25" dirty="0">
                <a:solidFill>
                  <a:srgbClr val="38465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4652"/>
                </a:solidFill>
                <a:latin typeface="Arial MT"/>
                <a:cs typeface="Arial MT"/>
              </a:rPr>
              <a:t>dynamic </a:t>
            </a:r>
            <a:r>
              <a:rPr sz="1800" spc="-10" dirty="0">
                <a:solidFill>
                  <a:srgbClr val="384652"/>
                </a:solidFill>
                <a:latin typeface="Arial MT"/>
                <a:cs typeface="Arial MT"/>
              </a:rPr>
              <a:t>access credentials.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522719" y="1818132"/>
            <a:ext cx="5179060" cy="1844039"/>
            <a:chOff x="6522719" y="1818132"/>
            <a:chExt cx="5179060" cy="1844039"/>
          </a:xfrm>
        </p:grpSpPr>
        <p:sp>
          <p:nvSpPr>
            <p:cNvPr id="10" name="object 10"/>
            <p:cNvSpPr/>
            <p:nvPr/>
          </p:nvSpPr>
          <p:spPr>
            <a:xfrm>
              <a:off x="6526529" y="1821942"/>
              <a:ext cx="5171440" cy="1836420"/>
            </a:xfrm>
            <a:custGeom>
              <a:avLst/>
              <a:gdLst/>
              <a:ahLst/>
              <a:cxnLst/>
              <a:rect l="l" t="t" r="r" b="b"/>
              <a:pathLst>
                <a:path w="5171440" h="1836420">
                  <a:moveTo>
                    <a:pt x="4868672" y="0"/>
                  </a:moveTo>
                  <a:lnTo>
                    <a:pt x="302260" y="0"/>
                  </a:lnTo>
                  <a:lnTo>
                    <a:pt x="253214" y="3954"/>
                  </a:lnTo>
                  <a:lnTo>
                    <a:pt x="206695" y="15402"/>
                  </a:lnTo>
                  <a:lnTo>
                    <a:pt x="163322" y="33724"/>
                  </a:lnTo>
                  <a:lnTo>
                    <a:pt x="123718" y="58298"/>
                  </a:lnTo>
                  <a:lnTo>
                    <a:pt x="88503" y="88503"/>
                  </a:lnTo>
                  <a:lnTo>
                    <a:pt x="58298" y="123718"/>
                  </a:lnTo>
                  <a:lnTo>
                    <a:pt x="33724" y="163322"/>
                  </a:lnTo>
                  <a:lnTo>
                    <a:pt x="15402" y="206695"/>
                  </a:lnTo>
                  <a:lnTo>
                    <a:pt x="3954" y="253214"/>
                  </a:lnTo>
                  <a:lnTo>
                    <a:pt x="0" y="302260"/>
                  </a:lnTo>
                  <a:lnTo>
                    <a:pt x="0" y="1534160"/>
                  </a:lnTo>
                  <a:lnTo>
                    <a:pt x="3954" y="1583205"/>
                  </a:lnTo>
                  <a:lnTo>
                    <a:pt x="15402" y="1629724"/>
                  </a:lnTo>
                  <a:lnTo>
                    <a:pt x="33724" y="1673097"/>
                  </a:lnTo>
                  <a:lnTo>
                    <a:pt x="58298" y="1712701"/>
                  </a:lnTo>
                  <a:lnTo>
                    <a:pt x="88503" y="1747916"/>
                  </a:lnTo>
                  <a:lnTo>
                    <a:pt x="123718" y="1778121"/>
                  </a:lnTo>
                  <a:lnTo>
                    <a:pt x="163322" y="1802695"/>
                  </a:lnTo>
                  <a:lnTo>
                    <a:pt x="206695" y="1821017"/>
                  </a:lnTo>
                  <a:lnTo>
                    <a:pt x="253214" y="1832465"/>
                  </a:lnTo>
                  <a:lnTo>
                    <a:pt x="302260" y="1836420"/>
                  </a:lnTo>
                  <a:lnTo>
                    <a:pt x="4868672" y="1836420"/>
                  </a:lnTo>
                  <a:lnTo>
                    <a:pt x="4917717" y="1832465"/>
                  </a:lnTo>
                  <a:lnTo>
                    <a:pt x="4964236" y="1821017"/>
                  </a:lnTo>
                  <a:lnTo>
                    <a:pt x="5007609" y="1802695"/>
                  </a:lnTo>
                  <a:lnTo>
                    <a:pt x="5047213" y="1778121"/>
                  </a:lnTo>
                  <a:lnTo>
                    <a:pt x="5082428" y="1747916"/>
                  </a:lnTo>
                  <a:lnTo>
                    <a:pt x="5112633" y="1712701"/>
                  </a:lnTo>
                  <a:lnTo>
                    <a:pt x="5137207" y="1673097"/>
                  </a:lnTo>
                  <a:lnTo>
                    <a:pt x="5155529" y="1629724"/>
                  </a:lnTo>
                  <a:lnTo>
                    <a:pt x="5166977" y="1583205"/>
                  </a:lnTo>
                  <a:lnTo>
                    <a:pt x="5170932" y="1534160"/>
                  </a:lnTo>
                  <a:lnTo>
                    <a:pt x="5170932" y="302260"/>
                  </a:lnTo>
                  <a:lnTo>
                    <a:pt x="5166977" y="253214"/>
                  </a:lnTo>
                  <a:lnTo>
                    <a:pt x="5155529" y="206695"/>
                  </a:lnTo>
                  <a:lnTo>
                    <a:pt x="5137207" y="163322"/>
                  </a:lnTo>
                  <a:lnTo>
                    <a:pt x="5112633" y="123718"/>
                  </a:lnTo>
                  <a:lnTo>
                    <a:pt x="5082428" y="88503"/>
                  </a:lnTo>
                  <a:lnTo>
                    <a:pt x="5047213" y="58298"/>
                  </a:lnTo>
                  <a:lnTo>
                    <a:pt x="5007609" y="33724"/>
                  </a:lnTo>
                  <a:lnTo>
                    <a:pt x="4964236" y="15402"/>
                  </a:lnTo>
                  <a:lnTo>
                    <a:pt x="4917717" y="3954"/>
                  </a:lnTo>
                  <a:lnTo>
                    <a:pt x="4868672" y="0"/>
                  </a:lnTo>
                  <a:close/>
                </a:path>
              </a:pathLst>
            </a:custGeom>
            <a:solidFill>
              <a:srgbClr val="D3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26529" y="1821942"/>
              <a:ext cx="5171440" cy="1836420"/>
            </a:xfrm>
            <a:custGeom>
              <a:avLst/>
              <a:gdLst/>
              <a:ahLst/>
              <a:cxnLst/>
              <a:rect l="l" t="t" r="r" b="b"/>
              <a:pathLst>
                <a:path w="5171440" h="1836420">
                  <a:moveTo>
                    <a:pt x="0" y="302260"/>
                  </a:moveTo>
                  <a:lnTo>
                    <a:pt x="3954" y="253214"/>
                  </a:lnTo>
                  <a:lnTo>
                    <a:pt x="15402" y="206695"/>
                  </a:lnTo>
                  <a:lnTo>
                    <a:pt x="33724" y="163322"/>
                  </a:lnTo>
                  <a:lnTo>
                    <a:pt x="58298" y="123718"/>
                  </a:lnTo>
                  <a:lnTo>
                    <a:pt x="88503" y="88503"/>
                  </a:lnTo>
                  <a:lnTo>
                    <a:pt x="123718" y="58298"/>
                  </a:lnTo>
                  <a:lnTo>
                    <a:pt x="163322" y="33724"/>
                  </a:lnTo>
                  <a:lnTo>
                    <a:pt x="206695" y="15402"/>
                  </a:lnTo>
                  <a:lnTo>
                    <a:pt x="253214" y="3954"/>
                  </a:lnTo>
                  <a:lnTo>
                    <a:pt x="302260" y="0"/>
                  </a:lnTo>
                  <a:lnTo>
                    <a:pt x="4868672" y="0"/>
                  </a:lnTo>
                  <a:lnTo>
                    <a:pt x="4917717" y="3954"/>
                  </a:lnTo>
                  <a:lnTo>
                    <a:pt x="4964236" y="15402"/>
                  </a:lnTo>
                  <a:lnTo>
                    <a:pt x="5007609" y="33724"/>
                  </a:lnTo>
                  <a:lnTo>
                    <a:pt x="5047213" y="58298"/>
                  </a:lnTo>
                  <a:lnTo>
                    <a:pt x="5082428" y="88503"/>
                  </a:lnTo>
                  <a:lnTo>
                    <a:pt x="5112633" y="123718"/>
                  </a:lnTo>
                  <a:lnTo>
                    <a:pt x="5137207" y="163322"/>
                  </a:lnTo>
                  <a:lnTo>
                    <a:pt x="5155529" y="206695"/>
                  </a:lnTo>
                  <a:lnTo>
                    <a:pt x="5166977" y="253214"/>
                  </a:lnTo>
                  <a:lnTo>
                    <a:pt x="5170932" y="302260"/>
                  </a:lnTo>
                  <a:lnTo>
                    <a:pt x="5170932" y="1534160"/>
                  </a:lnTo>
                  <a:lnTo>
                    <a:pt x="5166977" y="1583205"/>
                  </a:lnTo>
                  <a:lnTo>
                    <a:pt x="5155529" y="1629724"/>
                  </a:lnTo>
                  <a:lnTo>
                    <a:pt x="5137207" y="1673097"/>
                  </a:lnTo>
                  <a:lnTo>
                    <a:pt x="5112633" y="1712701"/>
                  </a:lnTo>
                  <a:lnTo>
                    <a:pt x="5082428" y="1747916"/>
                  </a:lnTo>
                  <a:lnTo>
                    <a:pt x="5047213" y="1778121"/>
                  </a:lnTo>
                  <a:lnTo>
                    <a:pt x="5007609" y="1802695"/>
                  </a:lnTo>
                  <a:lnTo>
                    <a:pt x="4964236" y="1821017"/>
                  </a:lnTo>
                  <a:lnTo>
                    <a:pt x="4917717" y="1832465"/>
                  </a:lnTo>
                  <a:lnTo>
                    <a:pt x="4868672" y="1836420"/>
                  </a:lnTo>
                  <a:lnTo>
                    <a:pt x="302260" y="1836420"/>
                  </a:lnTo>
                  <a:lnTo>
                    <a:pt x="253214" y="1832465"/>
                  </a:lnTo>
                  <a:lnTo>
                    <a:pt x="206695" y="1821017"/>
                  </a:lnTo>
                  <a:lnTo>
                    <a:pt x="163322" y="1802695"/>
                  </a:lnTo>
                  <a:lnTo>
                    <a:pt x="123718" y="1778121"/>
                  </a:lnTo>
                  <a:lnTo>
                    <a:pt x="88503" y="1747916"/>
                  </a:lnTo>
                  <a:lnTo>
                    <a:pt x="58298" y="1712701"/>
                  </a:lnTo>
                  <a:lnTo>
                    <a:pt x="33724" y="1673097"/>
                  </a:lnTo>
                  <a:lnTo>
                    <a:pt x="15402" y="1629724"/>
                  </a:lnTo>
                  <a:lnTo>
                    <a:pt x="3954" y="1583205"/>
                  </a:lnTo>
                  <a:lnTo>
                    <a:pt x="0" y="1534160"/>
                  </a:lnTo>
                  <a:lnTo>
                    <a:pt x="0" y="302260"/>
                  </a:lnTo>
                  <a:close/>
                </a:path>
              </a:pathLst>
            </a:custGeom>
            <a:ln w="7620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498335" y="3933444"/>
            <a:ext cx="5309870" cy="1591310"/>
            <a:chOff x="6498335" y="3933444"/>
            <a:chExt cx="5309870" cy="1591310"/>
          </a:xfrm>
        </p:grpSpPr>
        <p:sp>
          <p:nvSpPr>
            <p:cNvPr id="13" name="object 13"/>
            <p:cNvSpPr/>
            <p:nvPr/>
          </p:nvSpPr>
          <p:spPr>
            <a:xfrm>
              <a:off x="6502145" y="3937254"/>
              <a:ext cx="5302250" cy="1583690"/>
            </a:xfrm>
            <a:custGeom>
              <a:avLst/>
              <a:gdLst/>
              <a:ahLst/>
              <a:cxnLst/>
              <a:rect l="l" t="t" r="r" b="b"/>
              <a:pathLst>
                <a:path w="5302250" h="1583689">
                  <a:moveTo>
                    <a:pt x="5041392" y="0"/>
                  </a:moveTo>
                  <a:lnTo>
                    <a:pt x="260603" y="0"/>
                  </a:lnTo>
                  <a:lnTo>
                    <a:pt x="213769" y="4199"/>
                  </a:lnTo>
                  <a:lnTo>
                    <a:pt x="169685" y="16308"/>
                  </a:lnTo>
                  <a:lnTo>
                    <a:pt x="129088" y="35588"/>
                  </a:lnTo>
                  <a:lnTo>
                    <a:pt x="92715" y="61302"/>
                  </a:lnTo>
                  <a:lnTo>
                    <a:pt x="61302" y="92715"/>
                  </a:lnTo>
                  <a:lnTo>
                    <a:pt x="35588" y="129088"/>
                  </a:lnTo>
                  <a:lnTo>
                    <a:pt x="16308" y="169685"/>
                  </a:lnTo>
                  <a:lnTo>
                    <a:pt x="4199" y="213769"/>
                  </a:lnTo>
                  <a:lnTo>
                    <a:pt x="0" y="260604"/>
                  </a:lnTo>
                  <a:lnTo>
                    <a:pt x="0" y="1322832"/>
                  </a:lnTo>
                  <a:lnTo>
                    <a:pt x="4199" y="1369666"/>
                  </a:lnTo>
                  <a:lnTo>
                    <a:pt x="16308" y="1413750"/>
                  </a:lnTo>
                  <a:lnTo>
                    <a:pt x="35588" y="1454347"/>
                  </a:lnTo>
                  <a:lnTo>
                    <a:pt x="61302" y="1490720"/>
                  </a:lnTo>
                  <a:lnTo>
                    <a:pt x="92715" y="1522133"/>
                  </a:lnTo>
                  <a:lnTo>
                    <a:pt x="129088" y="1547847"/>
                  </a:lnTo>
                  <a:lnTo>
                    <a:pt x="169685" y="1567127"/>
                  </a:lnTo>
                  <a:lnTo>
                    <a:pt x="213769" y="1579236"/>
                  </a:lnTo>
                  <a:lnTo>
                    <a:pt x="260603" y="1583436"/>
                  </a:lnTo>
                  <a:lnTo>
                    <a:pt x="5041392" y="1583436"/>
                  </a:lnTo>
                  <a:lnTo>
                    <a:pt x="5088226" y="1579236"/>
                  </a:lnTo>
                  <a:lnTo>
                    <a:pt x="5132310" y="1567127"/>
                  </a:lnTo>
                  <a:lnTo>
                    <a:pt x="5172907" y="1547847"/>
                  </a:lnTo>
                  <a:lnTo>
                    <a:pt x="5209280" y="1522133"/>
                  </a:lnTo>
                  <a:lnTo>
                    <a:pt x="5240693" y="1490720"/>
                  </a:lnTo>
                  <a:lnTo>
                    <a:pt x="5266407" y="1454347"/>
                  </a:lnTo>
                  <a:lnTo>
                    <a:pt x="5285687" y="1413750"/>
                  </a:lnTo>
                  <a:lnTo>
                    <a:pt x="5297796" y="1369666"/>
                  </a:lnTo>
                  <a:lnTo>
                    <a:pt x="5301996" y="1322832"/>
                  </a:lnTo>
                  <a:lnTo>
                    <a:pt x="5301996" y="260604"/>
                  </a:lnTo>
                  <a:lnTo>
                    <a:pt x="5297796" y="213769"/>
                  </a:lnTo>
                  <a:lnTo>
                    <a:pt x="5285687" y="169685"/>
                  </a:lnTo>
                  <a:lnTo>
                    <a:pt x="5266407" y="129088"/>
                  </a:lnTo>
                  <a:lnTo>
                    <a:pt x="5240693" y="92715"/>
                  </a:lnTo>
                  <a:lnTo>
                    <a:pt x="5209280" y="61302"/>
                  </a:lnTo>
                  <a:lnTo>
                    <a:pt x="5172907" y="35588"/>
                  </a:lnTo>
                  <a:lnTo>
                    <a:pt x="5132310" y="16308"/>
                  </a:lnTo>
                  <a:lnTo>
                    <a:pt x="5088226" y="4199"/>
                  </a:lnTo>
                  <a:lnTo>
                    <a:pt x="5041392" y="0"/>
                  </a:lnTo>
                  <a:close/>
                </a:path>
              </a:pathLst>
            </a:custGeom>
            <a:solidFill>
              <a:srgbClr val="D3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02145" y="3937254"/>
              <a:ext cx="5302250" cy="1583690"/>
            </a:xfrm>
            <a:custGeom>
              <a:avLst/>
              <a:gdLst/>
              <a:ahLst/>
              <a:cxnLst/>
              <a:rect l="l" t="t" r="r" b="b"/>
              <a:pathLst>
                <a:path w="5302250" h="1583689">
                  <a:moveTo>
                    <a:pt x="0" y="260604"/>
                  </a:moveTo>
                  <a:lnTo>
                    <a:pt x="4199" y="213769"/>
                  </a:lnTo>
                  <a:lnTo>
                    <a:pt x="16308" y="169685"/>
                  </a:lnTo>
                  <a:lnTo>
                    <a:pt x="35588" y="129088"/>
                  </a:lnTo>
                  <a:lnTo>
                    <a:pt x="61302" y="92715"/>
                  </a:lnTo>
                  <a:lnTo>
                    <a:pt x="92715" y="61302"/>
                  </a:lnTo>
                  <a:lnTo>
                    <a:pt x="129088" y="35588"/>
                  </a:lnTo>
                  <a:lnTo>
                    <a:pt x="169685" y="16308"/>
                  </a:lnTo>
                  <a:lnTo>
                    <a:pt x="213769" y="4199"/>
                  </a:lnTo>
                  <a:lnTo>
                    <a:pt x="260603" y="0"/>
                  </a:lnTo>
                  <a:lnTo>
                    <a:pt x="5041392" y="0"/>
                  </a:lnTo>
                  <a:lnTo>
                    <a:pt x="5088226" y="4199"/>
                  </a:lnTo>
                  <a:lnTo>
                    <a:pt x="5132310" y="16308"/>
                  </a:lnTo>
                  <a:lnTo>
                    <a:pt x="5172907" y="35588"/>
                  </a:lnTo>
                  <a:lnTo>
                    <a:pt x="5209280" y="61302"/>
                  </a:lnTo>
                  <a:lnTo>
                    <a:pt x="5240693" y="92715"/>
                  </a:lnTo>
                  <a:lnTo>
                    <a:pt x="5266407" y="129088"/>
                  </a:lnTo>
                  <a:lnTo>
                    <a:pt x="5285687" y="169685"/>
                  </a:lnTo>
                  <a:lnTo>
                    <a:pt x="5297796" y="213769"/>
                  </a:lnTo>
                  <a:lnTo>
                    <a:pt x="5301996" y="260604"/>
                  </a:lnTo>
                  <a:lnTo>
                    <a:pt x="5301996" y="1322832"/>
                  </a:lnTo>
                  <a:lnTo>
                    <a:pt x="5297796" y="1369666"/>
                  </a:lnTo>
                  <a:lnTo>
                    <a:pt x="5285687" y="1413750"/>
                  </a:lnTo>
                  <a:lnTo>
                    <a:pt x="5266407" y="1454347"/>
                  </a:lnTo>
                  <a:lnTo>
                    <a:pt x="5240693" y="1490720"/>
                  </a:lnTo>
                  <a:lnTo>
                    <a:pt x="5209280" y="1522133"/>
                  </a:lnTo>
                  <a:lnTo>
                    <a:pt x="5172907" y="1547847"/>
                  </a:lnTo>
                  <a:lnTo>
                    <a:pt x="5132310" y="1567127"/>
                  </a:lnTo>
                  <a:lnTo>
                    <a:pt x="5088226" y="1579236"/>
                  </a:lnTo>
                  <a:lnTo>
                    <a:pt x="5041392" y="1583436"/>
                  </a:lnTo>
                  <a:lnTo>
                    <a:pt x="260603" y="1583436"/>
                  </a:lnTo>
                  <a:lnTo>
                    <a:pt x="213769" y="1579236"/>
                  </a:lnTo>
                  <a:lnTo>
                    <a:pt x="169685" y="1567127"/>
                  </a:lnTo>
                  <a:lnTo>
                    <a:pt x="129088" y="1547847"/>
                  </a:lnTo>
                  <a:lnTo>
                    <a:pt x="92715" y="1522133"/>
                  </a:lnTo>
                  <a:lnTo>
                    <a:pt x="61302" y="1490720"/>
                  </a:lnTo>
                  <a:lnTo>
                    <a:pt x="35588" y="1454347"/>
                  </a:lnTo>
                  <a:lnTo>
                    <a:pt x="16308" y="1413750"/>
                  </a:lnTo>
                  <a:lnTo>
                    <a:pt x="4199" y="1369666"/>
                  </a:lnTo>
                  <a:lnTo>
                    <a:pt x="0" y="1322832"/>
                  </a:lnTo>
                  <a:lnTo>
                    <a:pt x="0" y="260604"/>
                  </a:lnTo>
                  <a:close/>
                </a:path>
              </a:pathLst>
            </a:custGeom>
            <a:ln w="7620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737984" y="1745335"/>
            <a:ext cx="4656455" cy="3338195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200" b="1" dirty="0">
                <a:solidFill>
                  <a:srgbClr val="384652"/>
                </a:solidFill>
                <a:latin typeface="Arial"/>
                <a:cs typeface="Arial"/>
              </a:rPr>
              <a:t>Integration</a:t>
            </a:r>
            <a:r>
              <a:rPr sz="2200" b="1" spc="-50" dirty="0">
                <a:solidFill>
                  <a:srgbClr val="384652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384652"/>
                </a:solidFill>
                <a:latin typeface="Arial"/>
                <a:cs typeface="Arial"/>
              </a:rPr>
              <a:t>with</a:t>
            </a:r>
            <a:r>
              <a:rPr sz="2200" b="1" spc="-80" dirty="0">
                <a:solidFill>
                  <a:srgbClr val="384652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384652"/>
                </a:solidFill>
                <a:latin typeface="Arial"/>
                <a:cs typeface="Arial"/>
              </a:rPr>
              <a:t>cloud</a:t>
            </a:r>
            <a:endParaRPr sz="2200">
              <a:latin typeface="Arial"/>
              <a:cs typeface="Arial"/>
            </a:endParaRPr>
          </a:p>
          <a:p>
            <a:pPr marL="12700" marR="391160">
              <a:lnSpc>
                <a:spcPct val="125000"/>
              </a:lnSpc>
              <a:spcBef>
                <a:spcPts val="560"/>
              </a:spcBef>
            </a:pPr>
            <a:r>
              <a:rPr sz="1800" dirty="0">
                <a:latin typeface="Calibri"/>
                <a:cs typeface="Calibri"/>
              </a:rPr>
              <a:t>Future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updates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include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integrating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cloud storage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AWS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S3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Google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Drive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enable </a:t>
            </a:r>
            <a:r>
              <a:rPr sz="1800" dirty="0">
                <a:latin typeface="Calibri"/>
                <a:cs typeface="Calibri"/>
              </a:rPr>
              <a:t>secure,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scalable,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remote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storage.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solidFill>
                  <a:srgbClr val="384652"/>
                </a:solidFill>
                <a:latin typeface="Arial"/>
                <a:cs typeface="Arial"/>
              </a:rPr>
              <a:t>Audit</a:t>
            </a:r>
            <a:r>
              <a:rPr sz="2200" b="1" spc="-45" dirty="0">
                <a:solidFill>
                  <a:srgbClr val="384652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384652"/>
                </a:solidFill>
                <a:latin typeface="Arial"/>
                <a:cs typeface="Arial"/>
              </a:rPr>
              <a:t>Trails</a:t>
            </a:r>
            <a:r>
              <a:rPr sz="2200" b="1" spc="-70" dirty="0">
                <a:solidFill>
                  <a:srgbClr val="384652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384652"/>
                </a:solidFill>
                <a:latin typeface="Arial"/>
                <a:cs typeface="Arial"/>
              </a:rPr>
              <a:t>&amp;</a:t>
            </a:r>
            <a:r>
              <a:rPr sz="2200" b="1" spc="-55" dirty="0">
                <a:solidFill>
                  <a:srgbClr val="384652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384652"/>
                </a:solidFill>
                <a:latin typeface="Arial"/>
                <a:cs typeface="Arial"/>
              </a:rPr>
              <a:t>Logging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700" spc="-10" dirty="0">
                <a:latin typeface="Calibri"/>
                <a:cs typeface="Calibri"/>
              </a:rPr>
              <a:t>Maintain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complete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logs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who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accessed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what,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when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700" dirty="0">
                <a:latin typeface="Calibri"/>
                <a:cs typeface="Calibri"/>
              </a:rPr>
              <a:t>and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how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long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accountability.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Project </a:t>
            </a:r>
            <a:r>
              <a:rPr b="1" spc="-10" dirty="0">
                <a:latin typeface="Arial"/>
                <a:cs typeface="Arial"/>
              </a:rPr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332" y="1366520"/>
            <a:ext cx="26670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latin typeface="Arial MT"/>
                <a:cs typeface="Arial MT"/>
              </a:rPr>
              <a:t>01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363" y="1610106"/>
            <a:ext cx="3480435" cy="1756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Enable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Easy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Access: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40700"/>
              </a:lnSpc>
              <a:spcBef>
                <a:spcPts val="415"/>
              </a:spcBef>
            </a:pPr>
            <a:r>
              <a:rPr sz="1600" dirty="0">
                <a:latin typeface="Calibri"/>
                <a:cs typeface="Calibri"/>
              </a:rPr>
              <a:t>Provide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seamless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experience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authenticate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access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files </a:t>
            </a:r>
            <a:r>
              <a:rPr sz="1600" dirty="0">
                <a:latin typeface="Calibri"/>
                <a:cs typeface="Calibri"/>
              </a:rPr>
              <a:t>via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both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Android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mobile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web </a:t>
            </a:r>
            <a:r>
              <a:rPr sz="1600" spc="-10" dirty="0">
                <a:latin typeface="Calibri"/>
                <a:cs typeface="Calibri"/>
              </a:rPr>
              <a:t>platform.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5595" y="1346707"/>
            <a:ext cx="26670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latin typeface="Arial MT"/>
                <a:cs typeface="Arial MT"/>
              </a:rPr>
              <a:t>02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14038" y="1444771"/>
            <a:ext cx="3787140" cy="189674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390"/>
              </a:spcBef>
            </a:pPr>
            <a:r>
              <a:rPr sz="2000" dirty="0">
                <a:latin typeface="Calibri"/>
                <a:cs typeface="Calibri"/>
              </a:rPr>
              <a:t>Implement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Strong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Security: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40700"/>
              </a:lnSpc>
              <a:spcBef>
                <a:spcPts val="235"/>
              </a:spcBef>
            </a:pPr>
            <a:r>
              <a:rPr sz="1600" dirty="0">
                <a:latin typeface="Calibri"/>
                <a:cs typeface="Calibri"/>
              </a:rPr>
              <a:t>Develop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secure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access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that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combines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biometric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fingerprint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authentication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 dynamic, </a:t>
            </a:r>
            <a:r>
              <a:rPr sz="1600" spc="-10" dirty="0">
                <a:latin typeface="Calibri"/>
                <a:cs typeface="Calibri"/>
              </a:rPr>
              <a:t>time-</a:t>
            </a:r>
            <a:r>
              <a:rPr sz="1600" dirty="0">
                <a:latin typeface="Calibri"/>
                <a:cs typeface="Calibri"/>
              </a:rPr>
              <a:t>limited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QR </a:t>
            </a:r>
            <a:r>
              <a:rPr sz="1600" dirty="0">
                <a:latin typeface="Calibri"/>
                <a:cs typeface="Calibri"/>
              </a:rPr>
              <a:t>codes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prevent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unauthorized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access.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45169" y="1313022"/>
            <a:ext cx="3474720" cy="173990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545"/>
              </a:spcBef>
            </a:pPr>
            <a:r>
              <a:rPr sz="1700" spc="-25" dirty="0">
                <a:latin typeface="Arial MT"/>
                <a:cs typeface="Arial MT"/>
              </a:rPr>
              <a:t>03</a:t>
            </a:r>
            <a:endParaRPr sz="1700">
              <a:latin typeface="Arial MT"/>
              <a:cs typeface="Arial MT"/>
            </a:endParaRPr>
          </a:p>
          <a:p>
            <a:pPr marL="71755">
              <a:lnSpc>
                <a:spcPct val="100000"/>
              </a:lnSpc>
              <a:spcBef>
                <a:spcPts val="525"/>
              </a:spcBef>
            </a:pPr>
            <a:r>
              <a:rPr sz="2000" dirty="0">
                <a:latin typeface="Calibri"/>
                <a:cs typeface="Calibri"/>
              </a:rPr>
              <a:t>Ensure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Secure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Management:</a:t>
            </a:r>
            <a:endParaRPr sz="2000">
              <a:latin typeface="Calibri"/>
              <a:cs typeface="Calibri"/>
            </a:endParaRPr>
          </a:p>
          <a:p>
            <a:pPr marL="12700" marR="17780">
              <a:lnSpc>
                <a:spcPts val="2700"/>
              </a:lnSpc>
              <a:spcBef>
                <a:spcPts val="85"/>
              </a:spcBef>
            </a:pPr>
            <a:r>
              <a:rPr sz="1600" dirty="0">
                <a:latin typeface="Calibri"/>
                <a:cs typeface="Calibri"/>
              </a:rPr>
              <a:t>Allow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upload,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manage,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share </a:t>
            </a:r>
            <a:r>
              <a:rPr sz="1600" dirty="0">
                <a:latin typeface="Calibri"/>
                <a:cs typeface="Calibri"/>
              </a:rPr>
              <a:t>files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securely,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codes</a:t>
            </a:r>
            <a:r>
              <a:rPr sz="1600" spc="-10" dirty="0">
                <a:latin typeface="Calibri"/>
                <a:cs typeface="Calibri"/>
              </a:rPr>
              <a:t> controlling access.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363" y="4102407"/>
            <a:ext cx="4327525" cy="17189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700" spc="-25" dirty="0">
                <a:latin typeface="Arial MT"/>
                <a:cs typeface="Arial MT"/>
              </a:rPr>
              <a:t>04</a:t>
            </a:r>
            <a:endParaRPr sz="17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385"/>
              </a:spcBef>
            </a:pPr>
            <a:r>
              <a:rPr sz="2000" dirty="0">
                <a:latin typeface="Calibri"/>
                <a:cs typeface="Calibri"/>
              </a:rPr>
              <a:t>Support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Cross-</a:t>
            </a:r>
            <a:r>
              <a:rPr sz="2000" dirty="0">
                <a:latin typeface="Calibri"/>
                <a:cs typeface="Calibri"/>
              </a:rPr>
              <a:t>Platform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Functionality:</a:t>
            </a:r>
            <a:endParaRPr sz="2000">
              <a:latin typeface="Calibri"/>
              <a:cs typeface="Calibri"/>
            </a:endParaRPr>
          </a:p>
          <a:p>
            <a:pPr marL="12700" marR="5080" algn="just">
              <a:lnSpc>
                <a:spcPct val="140600"/>
              </a:lnSpc>
              <a:spcBef>
                <a:spcPts val="75"/>
              </a:spcBef>
            </a:pPr>
            <a:r>
              <a:rPr sz="1600" dirty="0">
                <a:latin typeface="Calibri"/>
                <a:cs typeface="Calibri"/>
              </a:rPr>
              <a:t>Build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fully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integrated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solution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works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smoothly </a:t>
            </a:r>
            <a:r>
              <a:rPr sz="1600" dirty="0">
                <a:latin typeface="Calibri"/>
                <a:cs typeface="Calibri"/>
              </a:rPr>
              <a:t>across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Android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web,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shared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backend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spc="-10" dirty="0">
                <a:latin typeface="Calibri"/>
                <a:cs typeface="Calibri"/>
              </a:rPr>
              <a:t>database.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7750" y="4085915"/>
            <a:ext cx="4988560" cy="170243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700" spc="-25" dirty="0">
                <a:latin typeface="Arial MT"/>
                <a:cs typeface="Arial MT"/>
              </a:rPr>
              <a:t>05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2000" dirty="0">
                <a:latin typeface="Calibri"/>
                <a:cs typeface="Calibri"/>
              </a:rPr>
              <a:t>Build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Scalable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Architecture: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40600"/>
              </a:lnSpc>
              <a:spcBef>
                <a:spcPts val="225"/>
              </a:spcBef>
            </a:pPr>
            <a:r>
              <a:rPr sz="1600" dirty="0">
                <a:latin typeface="Calibri"/>
                <a:cs typeface="Calibri"/>
              </a:rPr>
              <a:t>Design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accommodate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future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growth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spc="-10" dirty="0">
                <a:latin typeface="Calibri"/>
                <a:cs typeface="Calibri"/>
              </a:rPr>
              <a:t>enhancements,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cloud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integration,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role-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10" dirty="0">
                <a:latin typeface="Calibri"/>
                <a:cs typeface="Calibri"/>
              </a:rPr>
              <a:t> access,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additional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biometric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methods.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90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Arial"/>
                <a:cs typeface="Arial"/>
              </a:rPr>
              <a:t>Literature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Survey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1038" y="0"/>
            <a:ext cx="4550961" cy="6858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7308" y="1374140"/>
            <a:ext cx="7032625" cy="5064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Biometric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Authentication</a:t>
            </a:r>
            <a:endParaRPr sz="1800">
              <a:latin typeface="Calibri"/>
              <a:cs typeface="Calibri"/>
            </a:endParaRPr>
          </a:p>
          <a:p>
            <a:pPr marL="20955" marR="317500">
              <a:lnSpc>
                <a:spcPct val="100000"/>
              </a:lnSpc>
              <a:spcBef>
                <a:spcPts val="20"/>
              </a:spcBef>
            </a:pPr>
            <a:r>
              <a:rPr sz="1600" spc="-10" dirty="0">
                <a:latin typeface="Calibri"/>
                <a:cs typeface="Calibri"/>
              </a:rPr>
              <a:t>Fingerprint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authentication,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particular,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been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widely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adopted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due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its </a:t>
            </a:r>
            <a:r>
              <a:rPr sz="1600" dirty="0">
                <a:latin typeface="Calibri"/>
                <a:cs typeface="Calibri"/>
              </a:rPr>
              <a:t>balance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uniqueness,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convenience,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low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cost.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According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Jain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al.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(2006), </a:t>
            </a:r>
            <a:r>
              <a:rPr sz="1600" dirty="0">
                <a:latin typeface="Calibri"/>
                <a:cs typeface="Calibri"/>
              </a:rPr>
              <a:t>biometric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provide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strong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identity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assurance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linking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access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unique physiological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traits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QR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Secure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Sharing</a:t>
            </a:r>
            <a:endParaRPr sz="1800">
              <a:latin typeface="Calibri"/>
              <a:cs typeface="Calibri"/>
            </a:endParaRPr>
          </a:p>
          <a:p>
            <a:pPr marL="12700" marR="184785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latin typeface="Calibri"/>
                <a:cs typeface="Calibri"/>
              </a:rPr>
              <a:t>QR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codes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become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effective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medium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sharing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information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quickly.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Their </a:t>
            </a:r>
            <a:r>
              <a:rPr sz="1600" dirty="0">
                <a:latin typeface="Calibri"/>
                <a:cs typeface="Calibri"/>
              </a:rPr>
              <a:t>application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secure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financial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transactions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access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control,</a:t>
            </a:r>
            <a:r>
              <a:rPr sz="1600" spc="-25" dirty="0">
                <a:latin typeface="Calibri"/>
                <a:cs typeface="Calibri"/>
              </a:rPr>
              <a:t> has </a:t>
            </a:r>
            <a:r>
              <a:rPr sz="1600" dirty="0">
                <a:latin typeface="Calibri"/>
                <a:cs typeface="Calibri"/>
              </a:rPr>
              <a:t>been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widely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researched.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combining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time-</a:t>
            </a:r>
            <a:r>
              <a:rPr sz="1600" dirty="0">
                <a:latin typeface="Calibri"/>
                <a:cs typeface="Calibri"/>
              </a:rPr>
              <a:t>limited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tokens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codes,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ensure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one-</a:t>
            </a:r>
            <a:r>
              <a:rPr sz="1600" dirty="0">
                <a:latin typeface="Calibri"/>
                <a:cs typeface="Calibri"/>
              </a:rPr>
              <a:t>time,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secure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access.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aligns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research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into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ephemeral </a:t>
            </a:r>
            <a:r>
              <a:rPr sz="1600" dirty="0">
                <a:latin typeface="Calibri"/>
                <a:cs typeface="Calibri"/>
              </a:rPr>
              <a:t>QR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codes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secure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distribution.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5"/>
              </a:spcBef>
            </a:pPr>
            <a:endParaRPr sz="160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Existing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Gaps</a:t>
            </a:r>
            <a:endParaRPr sz="1800">
              <a:latin typeface="Calibri"/>
              <a:cs typeface="Calibri"/>
            </a:endParaRPr>
          </a:p>
          <a:p>
            <a:pPr marL="20955" marR="5080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latin typeface="Calibri"/>
                <a:cs typeface="Calibri"/>
              </a:rPr>
              <a:t>While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biometric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authentication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codes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widely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studied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individually,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there</a:t>
            </a:r>
            <a:r>
              <a:rPr sz="1600" spc="-25" dirty="0">
                <a:latin typeface="Calibri"/>
                <a:cs typeface="Calibri"/>
              </a:rPr>
              <a:t> is </a:t>
            </a:r>
            <a:r>
              <a:rPr sz="1600" spc="-10" dirty="0">
                <a:latin typeface="Calibri"/>
                <a:cs typeface="Calibri"/>
              </a:rPr>
              <a:t>relatively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little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research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combined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controlled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access.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Current systems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often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focus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either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device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authentication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QR-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sharing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without integrating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both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stronger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security.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BioQR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addresses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gap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merging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biometric authentication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dynamic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QR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code </a:t>
            </a:r>
            <a:r>
              <a:rPr sz="1600" spc="-10" dirty="0">
                <a:latin typeface="Calibri"/>
                <a:cs typeface="Calibri"/>
              </a:rPr>
              <a:t>generation.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836" y="1424939"/>
            <a:ext cx="304800" cy="304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836" y="3006851"/>
            <a:ext cx="304800" cy="304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836" y="4878323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8803" rIns="0" bIns="0" rtlCol="0">
            <a:spAutoFit/>
          </a:bodyPr>
          <a:lstStyle/>
          <a:p>
            <a:pPr marL="644525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Arial"/>
                <a:cs typeface="Arial"/>
              </a:rPr>
              <a:t>Draft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Problem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3300" y="1643354"/>
            <a:ext cx="10871835" cy="383540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5"/>
              </a:spcBef>
              <a:buFont typeface="Wingdings"/>
              <a:buChar char=""/>
              <a:tabLst>
                <a:tab pos="240665" algn="l"/>
              </a:tabLst>
            </a:pPr>
            <a:r>
              <a:rPr sz="2000" spc="-20" dirty="0">
                <a:latin typeface="Calibri"/>
                <a:cs typeface="Calibri"/>
              </a:rPr>
              <a:t>Traditional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ways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cards,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passwords,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PINs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easily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stolen,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lost,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copied.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Font typeface="Wingdings"/>
              <a:buChar char=""/>
              <a:tabLst>
                <a:tab pos="240665" algn="l"/>
              </a:tabLst>
            </a:pPr>
            <a:r>
              <a:rPr sz="2000" spc="-10" dirty="0">
                <a:latin typeface="Calibri"/>
                <a:cs typeface="Calibri"/>
              </a:rPr>
              <a:t>Physical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digital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usually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handled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separately,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causes: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Security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isn’t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managed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well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It’s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hard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keep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clear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record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what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Font typeface="Wingdings"/>
              <a:buChar char=""/>
              <a:tabLst>
                <a:tab pos="240665" algn="l"/>
              </a:tabLst>
            </a:pPr>
            <a:r>
              <a:rPr sz="2000" spc="-10" dirty="0">
                <a:latin typeface="Calibri"/>
                <a:cs typeface="Calibri"/>
              </a:rPr>
              <a:t>There’s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system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tracks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both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physical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digital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places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place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real-time.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2000">
              <a:latin typeface="Calibri"/>
              <a:cs typeface="Calibri"/>
            </a:endParaRPr>
          </a:p>
          <a:p>
            <a:pPr marL="81915" algn="just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Statement:</a:t>
            </a:r>
            <a:endParaRPr sz="2400">
              <a:latin typeface="Calibri"/>
              <a:cs typeface="Calibri"/>
            </a:endParaRPr>
          </a:p>
          <a:p>
            <a:pPr marL="81915" marR="544830" algn="just">
              <a:lnSpc>
                <a:spcPct val="100000"/>
              </a:lnSpc>
              <a:spcBef>
                <a:spcPts val="30"/>
              </a:spcBef>
            </a:pPr>
            <a:r>
              <a:rPr sz="2000" dirty="0">
                <a:latin typeface="Calibri"/>
                <a:cs typeface="Calibri"/>
              </a:rPr>
              <a:t>“To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develop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secure,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cloud-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system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biometric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fingerprint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authentication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spc="-20" dirty="0">
                <a:latin typeface="Calibri"/>
                <a:cs typeface="Calibri"/>
              </a:rPr>
              <a:t>time-</a:t>
            </a:r>
            <a:r>
              <a:rPr sz="2000" spc="-10" dirty="0">
                <a:latin typeface="Calibri"/>
                <a:cs typeface="Calibri"/>
              </a:rPr>
              <a:t>restricted,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one-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ensure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shared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accessible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once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by </a:t>
            </a:r>
            <a:r>
              <a:rPr sz="2000" spc="-10" dirty="0">
                <a:latin typeface="Calibri"/>
                <a:cs typeface="Calibri"/>
              </a:rPr>
              <a:t>authorized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users,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preventing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unauthorized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access.”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73023" y="3992879"/>
            <a:ext cx="10718800" cy="1805939"/>
            <a:chOff x="573023" y="3992879"/>
            <a:chExt cx="10718800" cy="1805939"/>
          </a:xfrm>
        </p:grpSpPr>
        <p:sp>
          <p:nvSpPr>
            <p:cNvPr id="5" name="object 5"/>
            <p:cNvSpPr/>
            <p:nvPr/>
          </p:nvSpPr>
          <p:spPr>
            <a:xfrm>
              <a:off x="634745" y="4004309"/>
              <a:ext cx="10645140" cy="1781810"/>
            </a:xfrm>
            <a:custGeom>
              <a:avLst/>
              <a:gdLst/>
              <a:ahLst/>
              <a:cxnLst/>
              <a:rect l="l" t="t" r="r" b="b"/>
              <a:pathLst>
                <a:path w="10645140" h="1781810">
                  <a:moveTo>
                    <a:pt x="0" y="90550"/>
                  </a:moveTo>
                  <a:lnTo>
                    <a:pt x="7117" y="55292"/>
                  </a:lnTo>
                  <a:lnTo>
                    <a:pt x="26527" y="26511"/>
                  </a:lnTo>
                  <a:lnTo>
                    <a:pt x="55314" y="7112"/>
                  </a:lnTo>
                  <a:lnTo>
                    <a:pt x="90563" y="0"/>
                  </a:lnTo>
                  <a:lnTo>
                    <a:pt x="10554589" y="0"/>
                  </a:lnTo>
                  <a:lnTo>
                    <a:pt x="10589847" y="7112"/>
                  </a:lnTo>
                  <a:lnTo>
                    <a:pt x="10618628" y="26511"/>
                  </a:lnTo>
                  <a:lnTo>
                    <a:pt x="10638028" y="55292"/>
                  </a:lnTo>
                  <a:lnTo>
                    <a:pt x="10645140" y="90550"/>
                  </a:lnTo>
                  <a:lnTo>
                    <a:pt x="10645140" y="1690992"/>
                  </a:lnTo>
                  <a:lnTo>
                    <a:pt x="10638028" y="1726241"/>
                  </a:lnTo>
                  <a:lnTo>
                    <a:pt x="10618628" y="1755028"/>
                  </a:lnTo>
                  <a:lnTo>
                    <a:pt x="10589847" y="1774438"/>
                  </a:lnTo>
                  <a:lnTo>
                    <a:pt x="10554589" y="1781555"/>
                  </a:lnTo>
                  <a:lnTo>
                    <a:pt x="90563" y="1781555"/>
                  </a:lnTo>
                  <a:lnTo>
                    <a:pt x="55314" y="1774438"/>
                  </a:lnTo>
                  <a:lnTo>
                    <a:pt x="26527" y="1755028"/>
                  </a:lnTo>
                  <a:lnTo>
                    <a:pt x="7117" y="1726241"/>
                  </a:lnTo>
                  <a:lnTo>
                    <a:pt x="0" y="1690992"/>
                  </a:lnTo>
                  <a:lnTo>
                    <a:pt x="0" y="90550"/>
                  </a:lnTo>
                  <a:close/>
                </a:path>
              </a:pathLst>
            </a:custGeom>
            <a:ln w="22860">
              <a:solidFill>
                <a:srgbClr val="BED2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3023" y="4003547"/>
              <a:ext cx="76200" cy="17952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559" y="1820926"/>
            <a:ext cx="2565807" cy="452589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912865" y="2733294"/>
            <a:ext cx="4191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50" dirty="0">
                <a:latin typeface="Calibri"/>
                <a:cs typeface="Calibri"/>
              </a:rPr>
              <a:t>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9930" y="4037838"/>
            <a:ext cx="4191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50" dirty="0">
                <a:latin typeface="Calibri"/>
                <a:cs typeface="Calibri"/>
              </a:rPr>
              <a:t>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7184" y="5344159"/>
            <a:ext cx="4191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50" dirty="0">
                <a:latin typeface="Calibri"/>
                <a:cs typeface="Calibri"/>
              </a:rPr>
              <a:t>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26985" y="2306269"/>
            <a:ext cx="42906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Requirements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finalized,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 </a:t>
            </a:r>
            <a:r>
              <a:rPr sz="1800" dirty="0">
                <a:latin typeface="Calibri"/>
                <a:cs typeface="Calibri"/>
              </a:rPr>
              <a:t>schema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created,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was </a:t>
            </a:r>
            <a:r>
              <a:rPr sz="1800" spc="-10" dirty="0">
                <a:latin typeface="Calibri"/>
                <a:cs typeface="Calibri"/>
              </a:rPr>
              <a:t>connected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web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mobile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platforms.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946" y="3454730"/>
            <a:ext cx="34410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Web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application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developed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login,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dashboard,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upload,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cloud </a:t>
            </a:r>
            <a:r>
              <a:rPr sz="1800" spc="-10" dirty="0">
                <a:latin typeface="Calibri"/>
                <a:cs typeface="Calibri"/>
              </a:rPr>
              <a:t>storage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integration,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listing features.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63657" y="4741052"/>
            <a:ext cx="4088129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Calibri"/>
                <a:cs typeface="Calibri"/>
              </a:rPr>
              <a:t>We integrated the Android device’s biometric fingerprint authentication to securely verify the user’s identity before performing sensitive actions.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383" y="605027"/>
            <a:ext cx="5602224" cy="48767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3559" y="2273807"/>
            <a:ext cx="757427" cy="81381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54523" y="3724655"/>
            <a:ext cx="615696" cy="56388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70220" y="5003291"/>
            <a:ext cx="789431" cy="789432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432816" y="3325367"/>
            <a:ext cx="3615054" cy="1306195"/>
          </a:xfrm>
          <a:custGeom>
            <a:avLst/>
            <a:gdLst/>
            <a:ahLst/>
            <a:cxnLst/>
            <a:rect l="l" t="t" r="r" b="b"/>
            <a:pathLst>
              <a:path w="3615054" h="1306195">
                <a:moveTo>
                  <a:pt x="0" y="217678"/>
                </a:moveTo>
                <a:lnTo>
                  <a:pt x="5749" y="167751"/>
                </a:lnTo>
                <a:lnTo>
                  <a:pt x="22125" y="121927"/>
                </a:lnTo>
                <a:lnTo>
                  <a:pt x="47822" y="81511"/>
                </a:lnTo>
                <a:lnTo>
                  <a:pt x="81532" y="47806"/>
                </a:lnTo>
                <a:lnTo>
                  <a:pt x="121949" y="22116"/>
                </a:lnTo>
                <a:lnTo>
                  <a:pt x="167767" y="5746"/>
                </a:lnTo>
                <a:lnTo>
                  <a:pt x="217678" y="0"/>
                </a:lnTo>
                <a:lnTo>
                  <a:pt x="3397250" y="0"/>
                </a:lnTo>
                <a:lnTo>
                  <a:pt x="3447176" y="5746"/>
                </a:lnTo>
                <a:lnTo>
                  <a:pt x="3493000" y="22116"/>
                </a:lnTo>
                <a:lnTo>
                  <a:pt x="3533416" y="47806"/>
                </a:lnTo>
                <a:lnTo>
                  <a:pt x="3567121" y="81511"/>
                </a:lnTo>
                <a:lnTo>
                  <a:pt x="3592811" y="121927"/>
                </a:lnTo>
                <a:lnTo>
                  <a:pt x="3609181" y="167751"/>
                </a:lnTo>
                <a:lnTo>
                  <a:pt x="3614928" y="217678"/>
                </a:lnTo>
                <a:lnTo>
                  <a:pt x="3614928" y="1088390"/>
                </a:lnTo>
                <a:lnTo>
                  <a:pt x="3609181" y="1138316"/>
                </a:lnTo>
                <a:lnTo>
                  <a:pt x="3592811" y="1184140"/>
                </a:lnTo>
                <a:lnTo>
                  <a:pt x="3567121" y="1224556"/>
                </a:lnTo>
                <a:lnTo>
                  <a:pt x="3533416" y="1258261"/>
                </a:lnTo>
                <a:lnTo>
                  <a:pt x="3493000" y="1283951"/>
                </a:lnTo>
                <a:lnTo>
                  <a:pt x="3447176" y="1300321"/>
                </a:lnTo>
                <a:lnTo>
                  <a:pt x="3397250" y="1306068"/>
                </a:lnTo>
                <a:lnTo>
                  <a:pt x="217678" y="1306068"/>
                </a:lnTo>
                <a:lnTo>
                  <a:pt x="167767" y="1300321"/>
                </a:lnTo>
                <a:lnTo>
                  <a:pt x="121949" y="1283951"/>
                </a:lnTo>
                <a:lnTo>
                  <a:pt x="81532" y="1258261"/>
                </a:lnTo>
                <a:lnTo>
                  <a:pt x="47822" y="1224556"/>
                </a:lnTo>
                <a:lnTo>
                  <a:pt x="22125" y="1184140"/>
                </a:lnTo>
                <a:lnTo>
                  <a:pt x="5749" y="1138316"/>
                </a:lnTo>
                <a:lnTo>
                  <a:pt x="0" y="1088390"/>
                </a:lnTo>
                <a:lnTo>
                  <a:pt x="0" y="217678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46976" y="2154935"/>
            <a:ext cx="4456430" cy="1170940"/>
          </a:xfrm>
          <a:custGeom>
            <a:avLst/>
            <a:gdLst/>
            <a:ahLst/>
            <a:cxnLst/>
            <a:rect l="l" t="t" r="r" b="b"/>
            <a:pathLst>
              <a:path w="4456430" h="1170939">
                <a:moveTo>
                  <a:pt x="0" y="195072"/>
                </a:moveTo>
                <a:lnTo>
                  <a:pt x="5154" y="150356"/>
                </a:lnTo>
                <a:lnTo>
                  <a:pt x="19834" y="109301"/>
                </a:lnTo>
                <a:lnTo>
                  <a:pt x="42867" y="73080"/>
                </a:lnTo>
                <a:lnTo>
                  <a:pt x="73080" y="42867"/>
                </a:lnTo>
                <a:lnTo>
                  <a:pt x="109301" y="19834"/>
                </a:lnTo>
                <a:lnTo>
                  <a:pt x="150356" y="5154"/>
                </a:lnTo>
                <a:lnTo>
                  <a:pt x="195072" y="0"/>
                </a:lnTo>
                <a:lnTo>
                  <a:pt x="4261104" y="0"/>
                </a:lnTo>
                <a:lnTo>
                  <a:pt x="4305819" y="5154"/>
                </a:lnTo>
                <a:lnTo>
                  <a:pt x="4346874" y="19834"/>
                </a:lnTo>
                <a:lnTo>
                  <a:pt x="4383095" y="42867"/>
                </a:lnTo>
                <a:lnTo>
                  <a:pt x="4413308" y="73080"/>
                </a:lnTo>
                <a:lnTo>
                  <a:pt x="4436341" y="109301"/>
                </a:lnTo>
                <a:lnTo>
                  <a:pt x="4451021" y="150356"/>
                </a:lnTo>
                <a:lnTo>
                  <a:pt x="4456176" y="195072"/>
                </a:lnTo>
                <a:lnTo>
                  <a:pt x="4456176" y="975360"/>
                </a:lnTo>
                <a:lnTo>
                  <a:pt x="4451021" y="1020075"/>
                </a:lnTo>
                <a:lnTo>
                  <a:pt x="4436341" y="1061130"/>
                </a:lnTo>
                <a:lnTo>
                  <a:pt x="4413308" y="1097351"/>
                </a:lnTo>
                <a:lnTo>
                  <a:pt x="4383095" y="1127564"/>
                </a:lnTo>
                <a:lnTo>
                  <a:pt x="4346874" y="1150597"/>
                </a:lnTo>
                <a:lnTo>
                  <a:pt x="4305819" y="1165277"/>
                </a:lnTo>
                <a:lnTo>
                  <a:pt x="4261104" y="1170431"/>
                </a:lnTo>
                <a:lnTo>
                  <a:pt x="195072" y="1170431"/>
                </a:lnTo>
                <a:lnTo>
                  <a:pt x="150356" y="1165277"/>
                </a:lnTo>
                <a:lnTo>
                  <a:pt x="109301" y="1150597"/>
                </a:lnTo>
                <a:lnTo>
                  <a:pt x="73080" y="1127564"/>
                </a:lnTo>
                <a:lnTo>
                  <a:pt x="42867" y="1097351"/>
                </a:lnTo>
                <a:lnTo>
                  <a:pt x="19834" y="1061130"/>
                </a:lnTo>
                <a:lnTo>
                  <a:pt x="5154" y="1020075"/>
                </a:lnTo>
                <a:lnTo>
                  <a:pt x="0" y="975360"/>
                </a:lnTo>
                <a:lnTo>
                  <a:pt x="0" y="195072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46976" y="4699482"/>
            <a:ext cx="4267200" cy="1203960"/>
          </a:xfrm>
          <a:custGeom>
            <a:avLst/>
            <a:gdLst/>
            <a:ahLst/>
            <a:cxnLst/>
            <a:rect l="l" t="t" r="r" b="b"/>
            <a:pathLst>
              <a:path w="4267200" h="1203960">
                <a:moveTo>
                  <a:pt x="0" y="200660"/>
                </a:moveTo>
                <a:lnTo>
                  <a:pt x="5296" y="154634"/>
                </a:lnTo>
                <a:lnTo>
                  <a:pt x="20386" y="112393"/>
                </a:lnTo>
                <a:lnTo>
                  <a:pt x="44067" y="75136"/>
                </a:lnTo>
                <a:lnTo>
                  <a:pt x="75136" y="44067"/>
                </a:lnTo>
                <a:lnTo>
                  <a:pt x="112393" y="20386"/>
                </a:lnTo>
                <a:lnTo>
                  <a:pt x="154634" y="5296"/>
                </a:lnTo>
                <a:lnTo>
                  <a:pt x="200659" y="0"/>
                </a:lnTo>
                <a:lnTo>
                  <a:pt x="4066539" y="0"/>
                </a:lnTo>
                <a:lnTo>
                  <a:pt x="4112565" y="5296"/>
                </a:lnTo>
                <a:lnTo>
                  <a:pt x="4154806" y="20386"/>
                </a:lnTo>
                <a:lnTo>
                  <a:pt x="4192063" y="44067"/>
                </a:lnTo>
                <a:lnTo>
                  <a:pt x="4223132" y="75136"/>
                </a:lnTo>
                <a:lnTo>
                  <a:pt x="4246813" y="112393"/>
                </a:lnTo>
                <a:lnTo>
                  <a:pt x="4261903" y="154634"/>
                </a:lnTo>
                <a:lnTo>
                  <a:pt x="4267200" y="200660"/>
                </a:lnTo>
                <a:lnTo>
                  <a:pt x="4267200" y="1003300"/>
                </a:lnTo>
                <a:lnTo>
                  <a:pt x="4261903" y="1049309"/>
                </a:lnTo>
                <a:lnTo>
                  <a:pt x="4246813" y="1091544"/>
                </a:lnTo>
                <a:lnTo>
                  <a:pt x="4223132" y="1128802"/>
                </a:lnTo>
                <a:lnTo>
                  <a:pt x="4192063" y="1159876"/>
                </a:lnTo>
                <a:lnTo>
                  <a:pt x="4154806" y="1183564"/>
                </a:lnTo>
                <a:lnTo>
                  <a:pt x="4112565" y="1198660"/>
                </a:lnTo>
                <a:lnTo>
                  <a:pt x="4066539" y="1203960"/>
                </a:lnTo>
                <a:lnTo>
                  <a:pt x="200659" y="1203960"/>
                </a:lnTo>
                <a:lnTo>
                  <a:pt x="154634" y="1198660"/>
                </a:lnTo>
                <a:lnTo>
                  <a:pt x="112393" y="1183564"/>
                </a:lnTo>
                <a:lnTo>
                  <a:pt x="75136" y="1159876"/>
                </a:lnTo>
                <a:lnTo>
                  <a:pt x="44067" y="1128802"/>
                </a:lnTo>
                <a:lnTo>
                  <a:pt x="20386" y="1091544"/>
                </a:lnTo>
                <a:lnTo>
                  <a:pt x="5296" y="1049309"/>
                </a:lnTo>
                <a:lnTo>
                  <a:pt x="0" y="1003300"/>
                </a:lnTo>
                <a:lnTo>
                  <a:pt x="0" y="20066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062" rIns="0" bIns="0" rtlCol="0">
            <a:spAutoFit/>
          </a:bodyPr>
          <a:lstStyle/>
          <a:p>
            <a:pPr marL="41148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Work</a:t>
            </a:r>
            <a:r>
              <a:rPr spc="-175" dirty="0"/>
              <a:t> </a:t>
            </a:r>
            <a:r>
              <a:rPr spc="-40" dirty="0"/>
              <a:t>Pending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300" marR="307975" indent="-228600">
              <a:lnSpc>
                <a:spcPts val="2380"/>
              </a:lnSpc>
              <a:spcBef>
                <a:spcPts val="39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dirty="0"/>
              <a:t>Complete</a:t>
            </a:r>
            <a:r>
              <a:rPr spc="-50" dirty="0"/>
              <a:t> </a:t>
            </a:r>
            <a:r>
              <a:rPr spc="-10" dirty="0"/>
              <a:t>fingerprint</a:t>
            </a:r>
            <a:r>
              <a:rPr spc="-75" dirty="0"/>
              <a:t> </a:t>
            </a:r>
            <a:r>
              <a:rPr dirty="0"/>
              <a:t>verification</a:t>
            </a:r>
            <a:r>
              <a:rPr spc="-65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dirty="0"/>
              <a:t>implement</a:t>
            </a:r>
            <a:r>
              <a:rPr spc="-45" dirty="0"/>
              <a:t> </a:t>
            </a:r>
            <a:r>
              <a:rPr spc="-25" dirty="0"/>
              <a:t>QR </a:t>
            </a:r>
            <a:r>
              <a:rPr dirty="0"/>
              <a:t>code</a:t>
            </a:r>
            <a:r>
              <a:rPr spc="-50" dirty="0"/>
              <a:t> </a:t>
            </a:r>
            <a:r>
              <a:rPr dirty="0"/>
              <a:t>expiry</a:t>
            </a:r>
            <a:r>
              <a:rPr spc="-50" dirty="0"/>
              <a:t> </a:t>
            </a:r>
            <a:r>
              <a:rPr spc="-10" dirty="0"/>
              <a:t>system.</a:t>
            </a:r>
          </a:p>
          <a:p>
            <a:pPr marL="304800" indent="-292100">
              <a:lnSpc>
                <a:spcPts val="2510"/>
              </a:lnSpc>
              <a:spcBef>
                <a:spcPts val="695"/>
              </a:spcBef>
              <a:buSzPct val="95454"/>
              <a:buFont typeface="Wingdings"/>
              <a:buChar char=""/>
              <a:tabLst>
                <a:tab pos="304800" algn="l"/>
              </a:tabLst>
            </a:pPr>
            <a:r>
              <a:rPr dirty="0"/>
              <a:t>Develop</a:t>
            </a:r>
            <a:r>
              <a:rPr spc="-60" dirty="0"/>
              <a:t> </a:t>
            </a:r>
            <a:r>
              <a:rPr dirty="0"/>
              <a:t>QR</a:t>
            </a:r>
            <a:r>
              <a:rPr spc="-50" dirty="0"/>
              <a:t> </a:t>
            </a:r>
            <a:r>
              <a:rPr dirty="0"/>
              <a:t>scanning</a:t>
            </a:r>
            <a:r>
              <a:rPr spc="-70" dirty="0"/>
              <a:t> </a:t>
            </a:r>
            <a:r>
              <a:rPr spc="-10" dirty="0"/>
              <a:t>feature</a:t>
            </a:r>
            <a:r>
              <a:rPr spc="-40" dirty="0"/>
              <a:t> </a:t>
            </a:r>
            <a:r>
              <a:rPr dirty="0"/>
              <a:t>with</a:t>
            </a:r>
            <a:r>
              <a:rPr spc="-60" dirty="0"/>
              <a:t> </a:t>
            </a:r>
            <a:r>
              <a:rPr dirty="0"/>
              <a:t>proper</a:t>
            </a:r>
            <a:r>
              <a:rPr spc="-55" dirty="0"/>
              <a:t> </a:t>
            </a:r>
            <a:r>
              <a:rPr spc="-10" dirty="0"/>
              <a:t>token</a:t>
            </a:r>
          </a:p>
          <a:p>
            <a:pPr marL="241300">
              <a:lnSpc>
                <a:spcPts val="2510"/>
              </a:lnSpc>
            </a:pPr>
            <a:r>
              <a:rPr dirty="0"/>
              <a:t>validation</a:t>
            </a:r>
            <a:r>
              <a:rPr spc="-80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secure</a:t>
            </a:r>
            <a:r>
              <a:rPr spc="-65" dirty="0"/>
              <a:t> </a:t>
            </a:r>
            <a:r>
              <a:rPr dirty="0"/>
              <a:t>file</a:t>
            </a:r>
            <a:r>
              <a:rPr spc="-60" dirty="0"/>
              <a:t> </a:t>
            </a:r>
            <a:r>
              <a:rPr spc="-10" dirty="0"/>
              <a:t>access.</a:t>
            </a:r>
          </a:p>
          <a:p>
            <a:pPr marL="241300" marR="400050" indent="-228600">
              <a:lnSpc>
                <a:spcPts val="2380"/>
              </a:lnSpc>
              <a:spcBef>
                <a:spcPts val="102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dirty="0"/>
              <a:t>Build</a:t>
            </a:r>
            <a:r>
              <a:rPr spc="-50" dirty="0"/>
              <a:t> </a:t>
            </a:r>
            <a:r>
              <a:rPr dirty="0"/>
              <a:t>backend</a:t>
            </a:r>
            <a:r>
              <a:rPr spc="-50" dirty="0"/>
              <a:t> </a:t>
            </a:r>
            <a:r>
              <a:rPr dirty="0"/>
              <a:t>APIs</a:t>
            </a:r>
            <a:r>
              <a:rPr spc="-4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add</a:t>
            </a:r>
            <a:r>
              <a:rPr spc="-50" dirty="0"/>
              <a:t> </a:t>
            </a:r>
            <a:r>
              <a:rPr dirty="0"/>
              <a:t>encryption</a:t>
            </a:r>
            <a:r>
              <a:rPr spc="-50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files</a:t>
            </a:r>
            <a:r>
              <a:rPr spc="-35" dirty="0"/>
              <a:t> </a:t>
            </a:r>
            <a:r>
              <a:rPr spc="-25" dirty="0"/>
              <a:t>and </a:t>
            </a:r>
            <a:r>
              <a:rPr dirty="0"/>
              <a:t>biometric</a:t>
            </a:r>
            <a:r>
              <a:rPr spc="-70" dirty="0"/>
              <a:t> </a:t>
            </a:r>
            <a:r>
              <a:rPr dirty="0"/>
              <a:t>data</a:t>
            </a:r>
            <a:r>
              <a:rPr spc="-65" dirty="0"/>
              <a:t> </a:t>
            </a:r>
            <a:r>
              <a:rPr spc="-10" dirty="0"/>
              <a:t>security.</a:t>
            </a:r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SzPct val="95454"/>
              <a:buFont typeface="Wingdings"/>
              <a:buChar char=""/>
              <a:tabLst>
                <a:tab pos="240665" algn="l"/>
              </a:tabLst>
            </a:pPr>
            <a:r>
              <a:rPr dirty="0"/>
              <a:t>Conduct</a:t>
            </a:r>
            <a:r>
              <a:rPr spc="-50" dirty="0"/>
              <a:t> </a:t>
            </a:r>
            <a:r>
              <a:rPr spc="-10" dirty="0"/>
              <a:t>End-</a:t>
            </a:r>
            <a:r>
              <a:rPr spc="-25" dirty="0"/>
              <a:t>to-</a:t>
            </a:r>
            <a:r>
              <a:rPr dirty="0"/>
              <a:t>End</a:t>
            </a:r>
            <a:r>
              <a:rPr spc="-15" dirty="0"/>
              <a:t> </a:t>
            </a:r>
            <a:r>
              <a:rPr spc="-10" dirty="0"/>
              <a:t>Integration</a:t>
            </a:r>
            <a:r>
              <a:rPr spc="-30" dirty="0"/>
              <a:t> </a:t>
            </a:r>
            <a:r>
              <a:rPr spc="-10" dirty="0"/>
              <a:t>Testing</a:t>
            </a:r>
          </a:p>
          <a:p>
            <a:pPr marL="12700" marR="5080" indent="316865">
              <a:lnSpc>
                <a:spcPts val="2380"/>
              </a:lnSpc>
              <a:spcBef>
                <a:spcPts val="1030"/>
              </a:spcBef>
            </a:pPr>
            <a:r>
              <a:rPr dirty="0"/>
              <a:t>Web</a:t>
            </a:r>
            <a:r>
              <a:rPr spc="-15" dirty="0"/>
              <a:t> </a:t>
            </a:r>
            <a:r>
              <a:rPr dirty="0"/>
              <a:t>→</a:t>
            </a:r>
            <a:r>
              <a:rPr spc="-20" dirty="0"/>
              <a:t> </a:t>
            </a:r>
            <a:r>
              <a:rPr dirty="0"/>
              <a:t>Upload</a:t>
            </a:r>
            <a:r>
              <a:rPr spc="-30" dirty="0"/>
              <a:t> </a:t>
            </a:r>
            <a:r>
              <a:rPr dirty="0"/>
              <a:t>→</a:t>
            </a:r>
            <a:r>
              <a:rPr spc="-25" dirty="0"/>
              <a:t> </a:t>
            </a:r>
            <a:r>
              <a:rPr dirty="0"/>
              <a:t>Mobile</a:t>
            </a:r>
            <a:r>
              <a:rPr spc="-25" dirty="0"/>
              <a:t> </a:t>
            </a:r>
            <a:r>
              <a:rPr dirty="0"/>
              <a:t>Share</a:t>
            </a:r>
            <a:r>
              <a:rPr spc="-30" dirty="0"/>
              <a:t> </a:t>
            </a:r>
            <a:r>
              <a:rPr dirty="0"/>
              <a:t>→</a:t>
            </a:r>
            <a:r>
              <a:rPr spc="-30" dirty="0"/>
              <a:t> </a:t>
            </a:r>
            <a:r>
              <a:rPr dirty="0"/>
              <a:t>QR</a:t>
            </a:r>
            <a:r>
              <a:rPr spc="-15" dirty="0"/>
              <a:t> </a:t>
            </a:r>
            <a:r>
              <a:rPr dirty="0"/>
              <a:t>Scan</a:t>
            </a:r>
            <a:r>
              <a:rPr spc="-15" dirty="0"/>
              <a:t> </a:t>
            </a:r>
            <a:r>
              <a:rPr dirty="0"/>
              <a:t>→</a:t>
            </a:r>
            <a:r>
              <a:rPr spc="450" dirty="0"/>
              <a:t> </a:t>
            </a:r>
            <a:r>
              <a:rPr spc="-10" dirty="0"/>
              <a:t>Access </a:t>
            </a:r>
            <a:r>
              <a:rPr spc="-20" dirty="0"/>
              <a:t>File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1568" y="961644"/>
            <a:ext cx="4767072" cy="47670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1824" y="2550109"/>
            <a:ext cx="511429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dirty="0">
                <a:latin typeface="Arial MT"/>
                <a:cs typeface="Arial MT"/>
              </a:rPr>
              <a:t>Thank</a:t>
            </a:r>
            <a:r>
              <a:rPr sz="8000" spc="-155" dirty="0">
                <a:latin typeface="Arial MT"/>
                <a:cs typeface="Arial MT"/>
              </a:rPr>
              <a:t> </a:t>
            </a:r>
            <a:r>
              <a:rPr sz="8000" spc="-710" dirty="0">
                <a:latin typeface="Arial MT"/>
                <a:cs typeface="Arial MT"/>
              </a:rPr>
              <a:t>Y</a:t>
            </a:r>
            <a:r>
              <a:rPr sz="8000" spc="20" dirty="0">
                <a:latin typeface="Arial MT"/>
                <a:cs typeface="Arial MT"/>
              </a:rPr>
              <a:t>ou!</a:t>
            </a:r>
            <a:endParaRPr sz="8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6823" y="0"/>
            <a:ext cx="4075176" cy="5135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367</TotalTime>
  <Words>768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MT</vt:lpstr>
      <vt:lpstr>Calibri</vt:lpstr>
      <vt:lpstr>Calibri Light</vt:lpstr>
      <vt:lpstr>Wingdings</vt:lpstr>
      <vt:lpstr>Office Theme</vt:lpstr>
      <vt:lpstr>BioQR Access Manager</vt:lpstr>
      <vt:lpstr>Introduction</vt:lpstr>
      <vt:lpstr>Project Scope</vt:lpstr>
      <vt:lpstr>Project Objectives</vt:lpstr>
      <vt:lpstr>Literature Survey</vt:lpstr>
      <vt:lpstr>Draft Problem Statement</vt:lpstr>
      <vt:lpstr>Requirements were finalized, the database schema was created, and the database was connected to both web and mobile platforms.</vt:lpstr>
      <vt:lpstr>Work Pending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Biometric + One-Time QR Code Access Control</dc:title>
  <dc:creator>Admin</dc:creator>
  <cp:lastModifiedBy>Anish Kshirsagar</cp:lastModifiedBy>
  <cp:revision>1</cp:revision>
  <dcterms:created xsi:type="dcterms:W3CDTF">2025-09-13T13:43:09Z</dcterms:created>
  <dcterms:modified xsi:type="dcterms:W3CDTF">2025-09-13T19:51:27Z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2025-09-13T00:00:00Z</vt:filetime>
  </property>
  <property fmtid="{D5CDD505-2E9C-101B-9397-08002B2CF9AE}" pid="5" name="Producer">
    <vt:lpwstr>Microsoft® PowerPoint® 2013</vt:lpwstr>
  </property>
</Properties>
</file>